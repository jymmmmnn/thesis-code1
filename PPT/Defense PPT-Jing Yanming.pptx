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Merriweather"/>
      <p:regular r:id="rId27"/>
    </p:embeddedFont>
    <p:embeddedFont>
      <p:font typeface="DM Sans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AE3C44-2FF7-4756-AD60-4C6D28886B37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7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2" name="Google Shape;362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3" name="Google Shape;423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0" y="609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7526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Approaches to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Stock Return Prediction</a:t>
            </a:r>
            <a:endParaRPr lang="en-US" sz="4500" b="1" i="0" u="none" strike="noStrike" cap="none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3909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Multimodal Framework for Short-Horizon Forecasting</a:t>
            </a:r>
            <a:endParaRPr lang="en-US" sz="2100" b="0" i="0" u="none" strike="noStrike" cap="non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196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Presenter: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Yanming Jing</a:t>
            </a:r>
            <a:endParaRPr lang="en-US" sz="1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2959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Supervisors: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Dr. Enrico Barbierato | Dr. Alessandro Sbuelz</a:t>
            </a:r>
            <a:endParaRPr lang="en-US" sz="1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772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Academic Year 2024/25</a:t>
            </a:r>
            <a:endParaRPr lang="en-US" sz="1500" b="0" i="0" u="none" strike="noStrike" cap="non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Roadmap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40386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596330" y="3209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10733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143375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Motivation &amp; Research Questions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651130" y="3209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566168" y="3733800"/>
            <a:ext cx="2552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846645" y="4143375"/>
            <a:ext cx="24306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Stylized Facts &amp; Limits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159571" y="3209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090484" y="3752850"/>
            <a:ext cx="2552100" cy="43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and </a:t>
            </a: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experiments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281425" y="4123690"/>
            <a:ext cx="243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Architectures &amp; Experiments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0214371" y="3209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9128774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189541" y="4143375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Results &amp; Future Work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102;p14"/>
          <p:cNvSpPr/>
          <p:nvPr/>
        </p:nvSpPr>
        <p:spPr>
          <a:xfrm>
            <a:off x="5905380" y="32289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4"/>
          <p:cNvSpPr txBox="1"/>
          <p:nvPr/>
        </p:nvSpPr>
        <p:spPr>
          <a:xfrm>
            <a:off x="4819783" y="3766820"/>
            <a:ext cx="2552100" cy="21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Related W</a:t>
            </a: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orks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" name="Google Shape;104;p14"/>
          <p:cNvSpPr txBox="1"/>
          <p:nvPr/>
        </p:nvSpPr>
        <p:spPr>
          <a:xfrm>
            <a:off x="4921190" y="4162425"/>
            <a:ext cx="24306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literature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9145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&amp; Motivation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05550" y="1933575"/>
            <a:ext cx="529590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647700" y="1849755"/>
            <a:ext cx="5264150" cy="3684623"/>
            <a:chOff x="1095" y="3848"/>
            <a:chExt cx="8290" cy="3772"/>
          </a:xfrm>
        </p:grpSpPr>
        <p:sp>
          <p:nvSpPr>
            <p:cNvPr id="120" name="Google Shape;120;p15"/>
            <p:cNvSpPr txBox="1"/>
            <p:nvPr/>
          </p:nvSpPr>
          <p:spPr>
            <a:xfrm>
              <a:off x="1095" y="3914"/>
              <a:ext cx="105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285" y="3848"/>
              <a:ext cx="8100" cy="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Noisy Dynamics: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Short-horizon stock returns are extremely non-stationary and stochastic.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1095" y="4618"/>
              <a:ext cx="105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285" y="4557"/>
              <a:ext cx="8100" cy="1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Illusion of Improvement:</a:t>
              </a: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In such settings, deep models can appear strong due to overfitting or unstable patterns that don’t generalize out of sample.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095" y="5684"/>
              <a:ext cx="105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1275" y="5620"/>
              <a:ext cx="8100" cy="1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Leakage Risk: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Even small time misalignment in features/labels or preprocessing can create look-ahead bias and inflate results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095" y="6750"/>
              <a:ext cx="105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275" y="6683"/>
              <a:ext cx="8100" cy="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Solution: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Build a leakage-safe, time-consistent, and fully auditable pipeline, and evaluate not only ranking but also reliability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62112"/>
            <a:ext cx="6339780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197030" y="1662112"/>
            <a:ext cx="4423469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Question &amp; Contributions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775" y="19573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66775" y="2528887"/>
            <a:ext cx="60366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Central Question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2938462"/>
            <a:ext cx="574923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short-term stock-return direction forecasting, 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oes adding count-based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news-sentiment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attention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indicators produce statistically meaningful improvements over a price-only benchmark under strict time-consistent protocols?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492305" y="19573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492305" y="2528887"/>
            <a:ext cx="40245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Main Contributions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16130" y="29003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682805" y="2900362"/>
            <a:ext cx="36424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Multimodal framework grounded in financial stylized facts.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16130" y="35861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682805" y="3586162"/>
            <a:ext cx="36424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Interpretable count-based news indicators.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616130" y="42719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682805" y="4271962"/>
            <a:ext cx="36424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Leakage-safe preprocessing and chronological splits.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616130" y="49577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7682805" y="4957762"/>
            <a:ext cx="36424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Evaluation of both discrimination (ROC) and calibration.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Stylized Facts &amp; Classical Limits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2752725"/>
            <a:ext cx="5334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Fact 01</a:t>
            </a:r>
            <a:endParaRPr lang="en-US" sz="6000" b="1" i="0" u="none" strike="noStrike" cap="none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37147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Non-Linear Dynamics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4124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ARIMA/GARCH capture linear mean/variance but struggle with structural breaks and regime shifts.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286500" y="2609850"/>
            <a:ext cx="5334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Fact 02</a:t>
            </a:r>
            <a:endParaRPr lang="en-US" sz="6000" b="1" i="0" u="none" strike="noStrike" cap="none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286500" y="35718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Temporal Dependencies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286500" y="3981450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Deep sequence models like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can represent complex dependencies in market micro-dynamics better than shallow models.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33220"/>
            <a:ext cx="5381625" cy="401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1633220"/>
            <a:ext cx="5381625" cy="401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Multimodal Fusion &amp; Evaluation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071812" y="1966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238" y="2564447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Fusion Logic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3000375"/>
            <a:ext cx="4791075" cy="208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Price features capture endogenous dynamics.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News indicators capture exogenous shocks and attention.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Fusion can be Early / Mid / Late (where information is combined).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39187" y="1966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415008" y="2564447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Metrics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534150" y="3000057"/>
            <a:ext cx="4791075" cy="207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Discrimination: ROC-AUC, AP.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Threshold metrics: Accuracy / Precision / Recall / F1.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Reliability: calibration curves.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Sanity checks: predicted positive rate (collapse detection).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Comparison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0" descr="/mnt/data/ppt_assets/table_3_1_full.png"/>
          <p:cNvPicPr>
            <a:picLocks noChangeAspect="1"/>
          </p:cNvPicPr>
          <p:nvPr/>
        </p:nvPicPr>
        <p:blipFill>
          <a:blip r:embed="rId2"/>
          <a:srcRect l="11685"/>
          <a:stretch>
            <a:fillRect/>
          </a:stretch>
        </p:blipFill>
        <p:spPr>
          <a:xfrm>
            <a:off x="1311275" y="1066800"/>
            <a:ext cx="9569450" cy="5487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145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Takeaways (Liagkouras 2025)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0550" y="1933575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6286500" y="195548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Simple signals can help, but only when:</a:t>
            </a:r>
            <a:endParaRPr lang="en-US" sz="1405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410325" y="2522537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477000" y="2470785"/>
            <a:ext cx="5143500" cy="74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Close to our setting: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price indicators 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and simple text-derived signals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410325" y="3224212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477000" y="3177540"/>
            <a:ext cx="5143500" cy="74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Emphasizes interpretable text features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(word-frequency style) and robust validation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410325" y="3971607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477000" y="3923665"/>
            <a:ext cx="5143500" cy="74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Highlights that </a:t>
            </a:r>
            <a:r>
              <a:rPr lang="en-US" altLang="zh-CN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fusion benefits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depend on careful alignment and evaluation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213;p20"/>
          <p:cNvSpPr txBox="1"/>
          <p:nvPr/>
        </p:nvSpPr>
        <p:spPr>
          <a:xfrm>
            <a:off x="6477000" y="4669790"/>
            <a:ext cx="5143500" cy="74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Motivates our count-based </a:t>
            </a:r>
            <a:r>
              <a:rPr lang="en-US" altLang="zh-CN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news sentiment/attention features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under strict splits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212;p20"/>
          <p:cNvSpPr txBox="1"/>
          <p:nvPr/>
        </p:nvSpPr>
        <p:spPr>
          <a:xfrm>
            <a:off x="6410325" y="4719002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295275" y="252888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and Experiments</a:t>
            </a:r>
            <a:endParaRPr lang="en-US" sz="37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619750" y="341471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286000" y="3757612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Isolating the incremental value of news indicators vs. price-only models under strict chronological evaluation.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819275"/>
            <a:ext cx="5334000" cy="273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Universe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463188" y="2531427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10,000+</a:t>
            </a:r>
            <a:endParaRPr lang="en-US" sz="1405" b="1" i="0" u="none" strike="noStrike" cap="none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581775" y="3030537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Firm-Day Aligned Observations</a:t>
            </a:r>
            <a:endParaRPr lang="en-US" sz="1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647700" y="2021205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62000" y="1955165"/>
            <a:ext cx="5143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Universe: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 Blue-chip A-shares (Core Industries).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47700" y="2442845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2407920"/>
            <a:ext cx="51435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Period: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2014 – Dec 2023 (Daily frequency).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47700" y="2842895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2781300"/>
            <a:ext cx="514350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Sources:</a:t>
            </a:r>
            <a:endParaRPr lang="en-US" sz="1500" b="1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1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47700" y="3981450"/>
            <a:ext cx="6667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20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714375" y="3928745"/>
            <a:ext cx="5143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Task: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1-day ahead return direction (Binary).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790575" y="322326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904875" y="3128645"/>
            <a:ext cx="49530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CSMAR: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Market indicators &amp; technicals.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790575" y="360553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904875" y="352869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CNRDS: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Financial news itemization.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System: Structured Data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47700" y="1435109"/>
            <a:ext cx="110490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Market micro-dynamics (daily panel):</a:t>
            </a:r>
            <a:endParaRPr lang="en-US" altLang="zh-CN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1500" y="2149475"/>
            <a:ext cx="11048365" cy="2663190"/>
            <a:chOff x="900" y="5486"/>
            <a:chExt cx="17399" cy="4194"/>
          </a:xfrm>
        </p:grpSpPr>
        <p:pic>
          <p:nvPicPr>
            <p:cNvPr id="249" name="Google Shape;249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5486"/>
              <a:ext cx="4012" cy="4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362" y="5486"/>
              <a:ext cx="4012" cy="4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825" y="5486"/>
              <a:ext cx="4012" cy="4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3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4287" y="5486"/>
              <a:ext cx="4012" cy="4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3"/>
            <p:cNvSpPr txBox="1"/>
            <p:nvPr/>
          </p:nvSpPr>
          <p:spPr>
            <a:xfrm>
              <a:off x="1288" y="6270"/>
              <a:ext cx="3237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Momentum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1365" y="6904"/>
              <a:ext cx="3082" cy="7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ROC, VA6DR, UMF, PRM, ChangeRatio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8" name="Google Shape;258;p23"/>
            <p:cNvSpPr txBox="1"/>
            <p:nvPr/>
          </p:nvSpPr>
          <p:spPr>
            <a:xfrm>
              <a:off x="5750" y="6270"/>
              <a:ext cx="3237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Volatility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9" name="Google Shape;259;p23"/>
            <p:cNvSpPr txBox="1"/>
            <p:nvPr/>
          </p:nvSpPr>
          <p:spPr>
            <a:xfrm>
              <a:off x="5827" y="6904"/>
              <a:ext cx="3082" cy="7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ATR, Boll_Upper, Boll_Lower, Boll_Pos, HighPrice–LowPrice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10213" y="6270"/>
              <a:ext cx="3237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Trend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10290" y="6904"/>
              <a:ext cx="3082" cy="7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5DAMA, 20DAMA, MACD, MACD_Signal, MACD_Hist, RSI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14675" y="6270"/>
              <a:ext cx="3237" cy="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Pressure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14752" y="6904"/>
              <a:ext cx="3082" cy="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PWHLD, DPA, IPM, OR, STCPC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" name="Google Shape;257;p23"/>
          <p:cNvSpPr txBox="1"/>
          <p:nvPr/>
        </p:nvSpPr>
        <p:spPr>
          <a:xfrm>
            <a:off x="866775" y="3905875"/>
            <a:ext cx="1957387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trend inertia &amp; short-term momentum</a:t>
            </a:r>
            <a:endParaRPr lang="en-US" altLang="zh-CN" sz="105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257;p23"/>
          <p:cNvSpPr txBox="1"/>
          <p:nvPr/>
        </p:nvSpPr>
        <p:spPr>
          <a:xfrm>
            <a:off x="3700145" y="4006205"/>
            <a:ext cx="1957387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dynamic risk boundaries &amp; volatility level</a:t>
            </a:r>
            <a:endParaRPr lang="en-US" altLang="zh-CN" sz="105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Google Shape;257;p23"/>
          <p:cNvSpPr txBox="1"/>
          <p:nvPr/>
        </p:nvSpPr>
        <p:spPr>
          <a:xfrm>
            <a:off x="6583680" y="3905875"/>
            <a:ext cx="1957387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trend-following </a:t>
            </a:r>
            <a:r>
              <a:rPr lang="en-US" altLang="zh-CN" sz="10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&amp;</a:t>
            </a:r>
            <a:r>
              <a: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overbought/oversold</a:t>
            </a:r>
            <a:endParaRPr lang="en-US" altLang="zh-CN" sz="105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Google Shape;257;p23"/>
          <p:cNvSpPr txBox="1"/>
          <p:nvPr/>
        </p:nvSpPr>
        <p:spPr>
          <a:xfrm>
            <a:off x="9368155" y="3905875"/>
            <a:ext cx="1957387" cy="7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long–short asymmetry, opening shocks &amp; micro-level posture</a:t>
            </a:r>
            <a:endParaRPr lang="en-US" altLang="zh-CN" sz="105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exact indicator list comes from the thesis feature system section.</a:t>
            </a:r>
            <a:endParaRPr lang="en-US" sz="1200" dirty="0"/>
          </a:p>
        </p:txBody>
      </p:sp>
      <p:sp>
        <p:nvSpPr>
          <p:cNvPr id="7" name="Google Shape;256;p23"/>
          <p:cNvSpPr txBox="1"/>
          <p:nvPr/>
        </p:nvSpPr>
        <p:spPr>
          <a:xfrm>
            <a:off x="859115" y="3679825"/>
            <a:ext cx="2055256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Captures</a:t>
            </a:r>
            <a:endParaRPr lang="en-US" altLang="zh-CN" sz="120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Google Shape;256;p23"/>
          <p:cNvSpPr txBox="1"/>
          <p:nvPr/>
        </p:nvSpPr>
        <p:spPr>
          <a:xfrm>
            <a:off x="3651210" y="3670300"/>
            <a:ext cx="2055256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Captures</a:t>
            </a:r>
            <a:endParaRPr lang="en-US" altLang="zh-CN" sz="120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Google Shape;256;p23"/>
          <p:cNvSpPr txBox="1"/>
          <p:nvPr/>
        </p:nvSpPr>
        <p:spPr>
          <a:xfrm>
            <a:off x="6483945" y="3667760"/>
            <a:ext cx="2055256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Captures</a:t>
            </a:r>
            <a:endParaRPr lang="en-US" altLang="zh-CN" sz="120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Google Shape;256;p23"/>
          <p:cNvSpPr txBox="1"/>
          <p:nvPr/>
        </p:nvSpPr>
        <p:spPr>
          <a:xfrm>
            <a:off x="9316680" y="3667760"/>
            <a:ext cx="2055256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Captures</a:t>
            </a:r>
            <a:endParaRPr lang="en-US" altLang="zh-CN" sz="120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System: News Indicators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992495" y="1651000"/>
            <a:ext cx="5600700" cy="3187700"/>
            <a:chOff x="9900" y="4177"/>
            <a:chExt cx="8400" cy="3675"/>
          </a:xfrm>
        </p:grpSpPr>
        <p:pic>
          <p:nvPicPr>
            <p:cNvPr id="269" name="Google Shape;269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4177"/>
              <a:ext cx="8400" cy="3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" name="组合 9"/>
            <p:cNvGrpSpPr/>
            <p:nvPr/>
          </p:nvGrpSpPr>
          <p:grpSpPr>
            <a:xfrm>
              <a:off x="10178" y="4642"/>
              <a:ext cx="7843" cy="2343"/>
              <a:chOff x="10178" y="4642"/>
              <a:chExt cx="7843" cy="2343"/>
            </a:xfrm>
          </p:grpSpPr>
          <p:pic>
            <p:nvPicPr>
              <p:cNvPr id="273" name="Google Shape;273;p24" descr="image.png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13800" y="4642"/>
                <a:ext cx="600" cy="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24"/>
              <p:cNvSpPr txBox="1"/>
              <p:nvPr/>
            </p:nvSpPr>
            <p:spPr>
              <a:xfrm>
                <a:off x="10178" y="5542"/>
                <a:ext cx="784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5" b="1" i="0" u="none" strike="noStrike" cap="none">
                    <a:solidFill>
                      <a:srgbClr val="000000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Rationale</a:t>
                </a:r>
                <a:endParaRPr lang="en-US" sz="1405" b="1" i="0" u="none" strike="noStrike" cap="none">
                  <a:solidFill>
                    <a:srgbClr val="000000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275" name="Google Shape;275;p24"/>
              <p:cNvSpPr txBox="1"/>
              <p:nvPr/>
            </p:nvSpPr>
            <p:spPr>
              <a:xfrm>
                <a:off x="10365" y="6187"/>
                <a:ext cx="7470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33415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Simple, interpretable proxies for tone and attention while keeping the pipeline leakage-resistant.</a:t>
                </a:r>
                <a:endPara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821055" y="1500505"/>
            <a:ext cx="5951220" cy="3698240"/>
            <a:chOff x="900" y="2223"/>
            <a:chExt cx="9372" cy="5824"/>
          </a:xfrm>
        </p:grpSpPr>
        <p:sp>
          <p:nvSpPr>
            <p:cNvPr id="6" name="Text 4"/>
            <p:cNvSpPr/>
            <p:nvPr/>
          </p:nvSpPr>
          <p:spPr>
            <a:xfrm>
              <a:off x="1200" y="2887"/>
              <a:ext cx="9072" cy="864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SzPct val="100000"/>
                <a:buNone/>
              </a:pPr>
              <a:r>
                <a:rPr lang="en-US" sz="1500" b="1">
                  <a:solidFill>
                    <a:srgbClr val="334155"/>
                  </a:solidFill>
                  <a:latin typeface="DM Sans"/>
                  <a:ea typeface="DM Sans"/>
                  <a:cs typeface="DM Sans"/>
                </a:rPr>
                <a:t>Positive, Neutral, Negative news items</a:t>
              </a:r>
              <a:endParaRPr lang="en-US" sz="1500" b="1">
                <a:solidFill>
                  <a:srgbClr val="334155"/>
                </a:solidFill>
                <a:latin typeface="DM Sans"/>
                <a:ea typeface="DM Sans"/>
                <a:cs typeface="DM Sans"/>
              </a:endParaRPr>
            </a:p>
          </p:txBody>
        </p:sp>
        <p:sp>
          <p:nvSpPr>
            <p:cNvPr id="272" name="Google Shape;272;p24"/>
            <p:cNvSpPr txBox="1"/>
            <p:nvPr/>
          </p:nvSpPr>
          <p:spPr>
            <a:xfrm>
              <a:off x="900" y="4441"/>
              <a:ext cx="8820" cy="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0000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Count-based Proxies</a:t>
              </a:r>
              <a:endParaRPr lang="en-US" sz="1405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76" name="Google Shape;276;p24"/>
            <p:cNvSpPr txBox="1"/>
            <p:nvPr/>
          </p:nvSpPr>
          <p:spPr>
            <a:xfrm>
              <a:off x="1095" y="5026"/>
              <a:ext cx="10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7" name="Google Shape;277;p24"/>
            <p:cNvSpPr txBox="1"/>
            <p:nvPr/>
          </p:nvSpPr>
          <p:spPr>
            <a:xfrm>
              <a:off x="1260" y="4997"/>
              <a:ext cx="8100" cy="10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Sentiment Balance (SB):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4"/>
            <p:cNvSpPr txBox="1"/>
            <p:nvPr/>
          </p:nvSpPr>
          <p:spPr>
            <a:xfrm>
              <a:off x="1095" y="6364"/>
              <a:ext cx="10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1200" y="6269"/>
              <a:ext cx="8100" cy="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Attention (ATT):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News Number counts.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1095" y="6994"/>
              <a:ext cx="10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1200" y="6899"/>
              <a:ext cx="8100" cy="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Smoothing: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Log(1 + ATT).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82" name="Google Shape;282;p24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200" y="5476"/>
              <a:ext cx="8100" cy="6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Text 3"/>
            <p:cNvSpPr/>
            <p:nvPr/>
          </p:nvSpPr>
          <p:spPr>
            <a:xfrm>
              <a:off x="900" y="2223"/>
              <a:ext cx="9072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5" b="1">
                  <a:latin typeface="Merriweather"/>
                  <a:ea typeface="Merriweather"/>
                  <a:cs typeface="Merriweather"/>
                </a:rPr>
                <a:t>Raw counts (firm-day)</a:t>
              </a:r>
              <a:endParaRPr lang="en-US" sz="1405" b="1">
                <a:latin typeface="Merriweather"/>
                <a:ea typeface="Merriweather"/>
                <a:cs typeface="Merriweather"/>
              </a:endParaRPr>
            </a:p>
          </p:txBody>
        </p:sp>
        <p:sp>
          <p:nvSpPr>
            <p:cNvPr id="1" name="Google Shape;276;p24"/>
            <p:cNvSpPr txBox="1"/>
            <p:nvPr/>
          </p:nvSpPr>
          <p:spPr>
            <a:xfrm>
              <a:off x="1095" y="2936"/>
              <a:ext cx="10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" name="Google Shape;281;p24"/>
            <p:cNvSpPr txBox="1"/>
            <p:nvPr/>
          </p:nvSpPr>
          <p:spPr>
            <a:xfrm>
              <a:off x="1200" y="7478"/>
              <a:ext cx="8100" cy="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+mn-ea"/>
                </a:rPr>
                <a:t>HAS = 1[ATT &gt; 0]</a:t>
              </a:r>
              <a:endPara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" name="Google Shape;280;p24"/>
            <p:cNvSpPr txBox="1"/>
            <p:nvPr/>
          </p:nvSpPr>
          <p:spPr>
            <a:xfrm>
              <a:off x="1095" y="7563"/>
              <a:ext cx="10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35255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Descriptive: Return Paths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62103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Regime changes and volatility clustering observed across the 2014-2023 period.</a:t>
            </a:r>
            <a:endParaRPr lang="en-US" sz="1500" b="0" i="1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0550" y="1450975"/>
            <a:ext cx="11010900" cy="4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company_overlay_Return_1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820" y="1450340"/>
            <a:ext cx="7143750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Leakage-Safe Preprocessing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1500" y="1658951"/>
            <a:ext cx="11048852" cy="3558960"/>
            <a:chOff x="900" y="4354"/>
            <a:chExt cx="17400" cy="5211"/>
          </a:xfrm>
        </p:grpSpPr>
        <p:pic>
          <p:nvPicPr>
            <p:cNvPr id="298" name="Google Shape;298;p26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4354"/>
              <a:ext cx="5500" cy="5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6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850" y="4354"/>
              <a:ext cx="5500" cy="52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6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2800" y="4354"/>
              <a:ext cx="5500" cy="5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6"/>
            <p:cNvSpPr/>
            <p:nvPr/>
          </p:nvSpPr>
          <p:spPr>
            <a:xfrm>
              <a:off x="3350" y="4819"/>
              <a:ext cx="600" cy="600"/>
            </a:xfrm>
            <a:prstGeom prst="roundRect">
              <a:avLst>
                <a:gd name="adj" fmla="val 50000"/>
              </a:avLst>
            </a:prstGeom>
            <a:solidFill>
              <a:srgbClr val="005088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1251" y="5737"/>
              <a:ext cx="4799" cy="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Handling Missingness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1365" y="6371"/>
              <a:ext cx="4570" cy="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Add missingness indicators (missing itself can be informative).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Forward-fill continuous features within each stock/time window.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Treat missing news counts as zero (no event day).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Use train-only robust statistics (median) for remaining gaps.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9300" y="4819"/>
              <a:ext cx="600" cy="600"/>
            </a:xfrm>
            <a:prstGeom prst="roundRect">
              <a:avLst>
                <a:gd name="adj" fmla="val 50000"/>
              </a:avLst>
            </a:prstGeom>
            <a:solidFill>
              <a:srgbClr val="005088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7201" y="5737"/>
              <a:ext cx="4799" cy="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Robust Scaling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7315" y="6371"/>
              <a:ext cx="4570" cy="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Winsorize</a:t>
              </a: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extreme values (quantile clipping).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Standardize</a:t>
              </a: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using </a:t>
              </a:r>
              <a:r>
                <a:rPr lang="en-US" altLang="zh-CN" sz="105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train-set </a:t>
              </a: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parameters only.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Apply identical preprocessing to all models for fair comparison.</a:t>
              </a: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15250" y="4819"/>
              <a:ext cx="600" cy="600"/>
            </a:xfrm>
            <a:prstGeom prst="roundRect">
              <a:avLst>
                <a:gd name="adj" fmla="val 50000"/>
              </a:avLst>
            </a:prstGeom>
            <a:solidFill>
              <a:srgbClr val="005088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13151" y="5737"/>
              <a:ext cx="4799" cy="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Information Integrity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1" name="Google Shape;311;p26"/>
            <p:cNvSpPr txBox="1"/>
            <p:nvPr/>
          </p:nvSpPr>
          <p:spPr>
            <a:xfrm>
              <a:off x="13265" y="6371"/>
              <a:ext cx="4570" cy="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No future info used in imputation or outlier detection.</a:t>
              </a:r>
              <a:endPara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Out-of-Sample Setup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7"/>
          <p:cNvGraphicFramePr/>
          <p:nvPr>
            <p:custDataLst>
              <p:tags r:id="rId2"/>
            </p:custDataLst>
          </p:nvPr>
        </p:nvGraphicFramePr>
        <p:xfrm>
          <a:off x="571500" y="2771775"/>
          <a:ext cx="11048365" cy="1714500"/>
        </p:xfrm>
        <a:graphic>
          <a:graphicData uri="http://schemas.openxmlformats.org/drawingml/2006/table">
            <a:tbl>
              <a:tblPr firstRow="1" bandRow="1">
                <a:noFill/>
                <a:tableStyleId>{7EAE3C44-2FF7-4756-AD60-4C6D28886B37}</a:tableStyleId>
              </a:tblPr>
              <a:tblGrid>
                <a:gridCol w="2333625"/>
                <a:gridCol w="3773805"/>
                <a:gridCol w="4940935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Subset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Sample Size (N)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 Period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</a:t>
                      </a:r>
                      <a:endParaRPr lang="en-US" sz="1050" b="1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8,170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2014-03-11 ~ 2020-12-30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Validation</a:t>
                      </a:r>
                      <a:endParaRPr lang="en-US" sz="1050" b="1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2,420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2021-01-04 ~ 2022-12-29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</a:t>
                      </a:r>
                      <a:endParaRPr lang="en-US" sz="1050" b="1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1,200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2023-01-03 ~ 2023-12-27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27"/>
          <p:cNvSpPr txBox="1"/>
          <p:nvPr/>
        </p:nvSpPr>
        <p:spPr>
          <a:xfrm>
            <a:off x="571500" y="467677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Protocol: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Each sample is valid only if both observation and label dates fall within the split window.</a:t>
            </a:r>
            <a:endParaRPr lang="en-US" sz="12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71500" y="3652837"/>
            <a:ext cx="20565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2628007" y="3652837"/>
            <a:ext cx="33255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5953571" y="3652837"/>
            <a:ext cx="1312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7266235" y="3652837"/>
            <a:ext cx="43542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571500" y="4062412"/>
            <a:ext cx="20565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628007" y="4062412"/>
            <a:ext cx="33255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953571" y="4062412"/>
            <a:ext cx="1312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7266235" y="4062412"/>
            <a:ext cx="43542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71500" y="4471987"/>
            <a:ext cx="20565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628007" y="4471987"/>
            <a:ext cx="33255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953571" y="4471987"/>
            <a:ext cx="1312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7266235" y="4471987"/>
            <a:ext cx="43542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1500" y="1304290"/>
            <a:ext cx="6096000" cy="1327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lnSpc>
                <a:spcPct val="150000"/>
              </a:lnSpc>
              <a:buSzTx/>
              <a:buNone/>
            </a:pPr>
            <a:r>
              <a:rPr lang="en-US" altLang="zh-CN">
                <a:solidFill>
                  <a:srgbClr val="334155"/>
                </a:solidFill>
                <a:latin typeface="DM Sans"/>
                <a:ea typeface="DM Sans"/>
                <a:cs typeface="DM Sans"/>
                <a:sym typeface="+mn-ea"/>
              </a:rPr>
              <a:t>Leakage prevention: each sample is valid only if both</a:t>
            </a:r>
            <a:endParaRPr lang="en-US" altLang="zh-CN">
              <a:solidFill>
                <a:srgbClr val="334155"/>
              </a:solidFill>
              <a:latin typeface="DM Sans"/>
              <a:ea typeface="DM Sans"/>
              <a:cs typeface="DM Sans"/>
            </a:endParaRPr>
          </a:p>
          <a:p>
            <a:pPr marL="0" algn="l">
              <a:lnSpc>
                <a:spcPct val="150000"/>
              </a:lnSpc>
              <a:buSzTx/>
              <a:buNone/>
            </a:pPr>
            <a:r>
              <a:rPr lang="en-US" altLang="zh-CN">
                <a:solidFill>
                  <a:srgbClr val="334155"/>
                </a:solidFill>
                <a:latin typeface="DM Sans"/>
                <a:ea typeface="DM Sans"/>
                <a:cs typeface="DM Sans"/>
                <a:sym typeface="+mn-ea"/>
              </a:rPr>
              <a:t>(1) observation date</a:t>
            </a:r>
            <a:endParaRPr lang="en-US" altLang="zh-CN">
              <a:solidFill>
                <a:srgbClr val="334155"/>
              </a:solidFill>
              <a:latin typeface="DM Sans"/>
              <a:ea typeface="DM Sans"/>
              <a:cs typeface="DM Sans"/>
              <a:sym typeface="+mn-ea"/>
            </a:endParaRPr>
          </a:p>
          <a:p>
            <a:pPr marL="0" algn="l">
              <a:lnSpc>
                <a:spcPct val="150000"/>
              </a:lnSpc>
              <a:buSzTx/>
              <a:buNone/>
            </a:pPr>
            <a:r>
              <a:rPr lang="en-US" altLang="zh-CN">
                <a:solidFill>
                  <a:srgbClr val="334155"/>
                </a:solidFill>
                <a:latin typeface="DM Sans"/>
                <a:ea typeface="DM Sans"/>
                <a:cs typeface="DM Sans"/>
                <a:sym typeface="+mn-ea"/>
              </a:rPr>
              <a:t>(2) label date</a:t>
            </a:r>
            <a:endParaRPr lang="en-US" altLang="zh-CN">
              <a:solidFill>
                <a:srgbClr val="334155"/>
              </a:solidFill>
              <a:latin typeface="DM Sans"/>
              <a:ea typeface="DM Sans"/>
              <a:cs typeface="DM Sans"/>
            </a:endParaRPr>
          </a:p>
          <a:p>
            <a:pPr marL="0" algn="l">
              <a:lnSpc>
                <a:spcPct val="150000"/>
              </a:lnSpc>
              <a:buSzTx/>
              <a:buNone/>
            </a:pPr>
            <a:r>
              <a:rPr lang="en-US" altLang="zh-CN">
                <a:solidFill>
                  <a:srgbClr val="334155"/>
                </a:solidFill>
                <a:latin typeface="DM Sans"/>
                <a:ea typeface="DM Sans"/>
                <a:cs typeface="DM Sans"/>
                <a:sym typeface="+mn-ea"/>
              </a:rPr>
              <a:t>fall within the same split window.</a:t>
            </a:r>
            <a:endParaRPr lang="en-US" altLang="zh-CN">
              <a:solidFill>
                <a:srgbClr val="334155"/>
              </a:solidFill>
              <a:latin typeface="DM Sans"/>
              <a:ea typeface="DM Sans"/>
              <a:cs typeface="DM Sans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ML Baselines (Test)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28"/>
          <p:cNvGraphicFramePr/>
          <p:nvPr/>
        </p:nvGraphicFramePr>
        <p:xfrm>
          <a:off x="571500" y="1522730"/>
          <a:ext cx="11049000" cy="3429000"/>
        </p:xfrm>
        <a:graphic>
          <a:graphicData uri="http://schemas.openxmlformats.org/drawingml/2006/table">
            <a:tbl>
              <a:tblPr firstRow="1" bandRow="1">
                <a:noFill/>
                <a:tableStyleId>{7EAE3C44-2FF7-4756-AD60-4C6D28886B37}</a:tableStyleId>
              </a:tblPr>
              <a:tblGrid>
                <a:gridCol w="1888290"/>
                <a:gridCol w="1669816"/>
                <a:gridCol w="1669817"/>
                <a:gridCol w="1622954"/>
                <a:gridCol w="1201664"/>
                <a:gridCol w="1014286"/>
                <a:gridCol w="1014288"/>
                <a:gridCol w="96786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</a:t>
                      </a:r>
                      <a:r>
                        <a:rPr lang="en-US" alt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plit</a:t>
                      </a:r>
                      <a:endParaRPr lang="en-US" alt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Precision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Recall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</a:t>
                      </a:r>
                      <a:endParaRPr lang="en-US" alt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Logistic Reg.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</a:t>
                      </a: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0.549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0.505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0.423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0.460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0.546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0.486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0.499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0.471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0.811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0.596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0.532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0.475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Hist. GBoost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0.512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0.474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0.660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0.552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0.534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0.479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Logistic Reg.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</a:t>
                      </a: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0.531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0.457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0.431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0.444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0.510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0.442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bg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0.452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0.434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0.863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0.577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0.506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0.436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Hist. GBoost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0.465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0.425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0.660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0.517</a:t>
                      </a:r>
                      <a:endParaRPr lang="en-US" alt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0.500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0.441</a:t>
                      </a:r>
                      <a:endParaRPr lang="en-US" sz="1050" b="0" i="0" u="none" strike="noStrike" cap="none">
                        <a:solidFill>
                          <a:srgbClr val="334155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28"/>
          <p:cNvSpPr txBox="1"/>
          <p:nvPr/>
        </p:nvSpPr>
        <p:spPr>
          <a:xfrm>
            <a:off x="571500" y="468249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Interpretation:</a:t>
            </a:r>
            <a:r>
              <a:rPr lang="en-US" sz="1500" b="0" i="0" u="none" strike="noStrike" cap="none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Traditional models converge near-random (0.50 AUC) under regime shifts.</a:t>
            </a:r>
            <a:endParaRPr lang="en-US" sz="1500" b="0" i="0" u="none" strike="noStrike" cap="none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/>
          <p:nvPr/>
        </p:nvSpPr>
        <p:spPr>
          <a:xfrm>
            <a:off x="762000" y="571500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Multimodal Architecture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571500"/>
            <a:ext cx="76200" cy="9906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fusion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1286510"/>
            <a:ext cx="8806180" cy="3805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7700" y="5231765"/>
            <a:ext cx="1109441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grpSp>
        <p:nvGrpSpPr>
          <p:cNvPr id="2" name="组合 1"/>
          <p:cNvGrpSpPr/>
          <p:nvPr/>
        </p:nvGrpSpPr>
        <p:grpSpPr>
          <a:xfrm>
            <a:off x="1093470" y="5194935"/>
            <a:ext cx="4068445" cy="1130386"/>
            <a:chOff x="1095" y="5182"/>
            <a:chExt cx="7605" cy="1817"/>
          </a:xfrm>
        </p:grpSpPr>
        <p:sp>
          <p:nvSpPr>
            <p:cNvPr id="367" name="Google Shape;367;p29"/>
            <p:cNvSpPr txBox="1"/>
            <p:nvPr/>
          </p:nvSpPr>
          <p:spPr>
            <a:xfrm>
              <a:off x="1095" y="5282"/>
              <a:ext cx="105" cy="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8" name="Google Shape;368;p29"/>
            <p:cNvSpPr txBox="1"/>
            <p:nvPr/>
          </p:nvSpPr>
          <p:spPr>
            <a:xfrm>
              <a:off x="1200" y="5182"/>
              <a:ext cx="7500" cy="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Price Branch: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1-layer LSTM (T=5).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9" name="Google Shape;369;p29"/>
            <p:cNvSpPr txBox="1"/>
            <p:nvPr/>
          </p:nvSpPr>
          <p:spPr>
            <a:xfrm>
              <a:off x="1095" y="5894"/>
              <a:ext cx="105" cy="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0" name="Google Shape;370;p29"/>
            <p:cNvSpPr txBox="1"/>
            <p:nvPr/>
          </p:nvSpPr>
          <p:spPr>
            <a:xfrm>
              <a:off x="1200" y="5812"/>
              <a:ext cx="7500" cy="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News Branch: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1D-CNN (News Number).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1" name="Google Shape;371;p29"/>
            <p:cNvSpPr txBox="1"/>
            <p:nvPr/>
          </p:nvSpPr>
          <p:spPr>
            <a:xfrm>
              <a:off x="1117" y="6505"/>
              <a:ext cx="105" cy="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</a:t>
              </a:r>
              <a:endParaRPr lang="en-US" sz="20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2" name="Google Shape;372;p29"/>
            <p:cNvSpPr txBox="1"/>
            <p:nvPr/>
          </p:nvSpPr>
          <p:spPr>
            <a:xfrm>
              <a:off x="1200" y="6442"/>
              <a:ext cx="7500" cy="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Fusion: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Early / Late / Mid strategies tested.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Model Results (Test)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1500" y="4890770"/>
            <a:ext cx="6649085" cy="960755"/>
            <a:chOff x="9900" y="4414"/>
            <a:chExt cx="8400" cy="3346"/>
          </a:xfrm>
        </p:grpSpPr>
        <p:pic>
          <p:nvPicPr>
            <p:cNvPr id="380" name="Google Shape;380;p30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4414"/>
              <a:ext cx="8400" cy="3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30"/>
            <p:cNvSpPr txBox="1"/>
            <p:nvPr/>
          </p:nvSpPr>
          <p:spPr>
            <a:xfrm>
              <a:off x="10178" y="5197"/>
              <a:ext cx="7843" cy="6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Key Finding</a:t>
              </a:r>
              <a:endPara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5" name="Google Shape;385;p30"/>
            <p:cNvSpPr txBox="1"/>
            <p:nvPr/>
          </p:nvSpPr>
          <p:spPr>
            <a:xfrm>
              <a:off x="10365" y="5831"/>
              <a:ext cx="7470" cy="1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Price-only deep models are surprisingly dominant at a daily horizon. News provides limited incremental value under strict protocol.</a:t>
              </a:r>
              <a:endPara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6" name="Image 0" descr="/mnt/data/ppt_assets/table_4_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30325"/>
            <a:ext cx="7040880" cy="3246120"/>
          </a:xfrm>
          <a:prstGeom prst="rect">
            <a:avLst/>
          </a:prstGeom>
        </p:spPr>
      </p:pic>
      <p:pic>
        <p:nvPicPr>
          <p:cNvPr id="9" name="Image 1" descr="/mnt/data/ppt_assets/fig_4_2_test2.png"/>
          <p:cNvPicPr>
            <a:picLocks noChangeAspect="1"/>
          </p:cNvPicPr>
          <p:nvPr/>
        </p:nvPicPr>
        <p:blipFill>
          <a:blip r:embed="rId4"/>
          <a:srcRect l="8273" r="21332"/>
          <a:stretch>
            <a:fillRect/>
          </a:stretch>
        </p:blipFill>
        <p:spPr>
          <a:xfrm>
            <a:off x="8166100" y="1066800"/>
            <a:ext cx="3161030" cy="2781935"/>
          </a:xfrm>
          <a:prstGeom prst="rect">
            <a:avLst/>
          </a:prstGeom>
        </p:spPr>
      </p:pic>
      <p:pic>
        <p:nvPicPr>
          <p:cNvPr id="11" name="Image 2" descr="/mnt/data/ppt_assets/fig_4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018915"/>
            <a:ext cx="42062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Answer to Research Question</a:t>
            </a:r>
            <a:endParaRPr lang="en-US" sz="3150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71500" y="1468413"/>
            <a:ext cx="11049000" cy="4871325"/>
            <a:chOff x="900" y="3682"/>
            <a:chExt cx="17400" cy="7102"/>
          </a:xfrm>
        </p:grpSpPr>
        <p:pic>
          <p:nvPicPr>
            <p:cNvPr id="411" name="Google Shape;411;p31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3682"/>
              <a:ext cx="8520" cy="6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31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9870" y="3683"/>
              <a:ext cx="8430" cy="6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1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4897" y="4192"/>
              <a:ext cx="525" cy="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6" name="Google Shape;416;p31"/>
            <p:cNvSpPr txBox="1"/>
            <p:nvPr/>
          </p:nvSpPr>
          <p:spPr>
            <a:xfrm>
              <a:off x="1222" y="5092"/>
              <a:ext cx="7875" cy="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Main Verdict</a:t>
              </a:r>
              <a:endPara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17" name="Google Shape;417;p31"/>
            <p:cNvSpPr txBox="1"/>
            <p:nvPr/>
          </p:nvSpPr>
          <p:spPr>
            <a:xfrm>
              <a:off x="1410" y="5737"/>
              <a:ext cx="7500" cy="5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Price information remains the </a:t>
              </a:r>
              <a:r>
                <a:rPr lang="en-US" sz="1500" b="1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dominant signal source</a:t>
              </a: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for daily horizons. Count-based news indicators add limited and unstable value when evaluated under strict chronological splits.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Deep models extract transferable temporal patterns from micro-dynamics that linear baselines miss completely.</a:t>
              </a: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418" name="Google Shape;418;p31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3860" y="4147"/>
              <a:ext cx="450" cy="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31"/>
            <p:cNvSpPr txBox="1"/>
            <p:nvPr/>
          </p:nvSpPr>
          <p:spPr>
            <a:xfrm>
              <a:off x="10147" y="5047"/>
              <a:ext cx="7875" cy="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Future W</a:t>
              </a:r>
              <a:r>
                <a:rPr lang="en-US" sz="1405" b="1" i="0" u="none" strike="noStrike" cap="none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ork</a:t>
              </a:r>
              <a:endPara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20" name="Google Shape;420;p31"/>
            <p:cNvSpPr txBox="1"/>
            <p:nvPr/>
          </p:nvSpPr>
          <p:spPr>
            <a:xfrm>
              <a:off x="10335" y="5692"/>
              <a:ext cx="7500" cy="3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Sentiment feature ablations &amp; longer news accumulation windows.</a:t>
              </a:r>
              <a:endPara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Regime-aware modeling (explicit state shifts).</a:t>
              </a:r>
              <a:endPara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Richer finance-specific text representations .</a:t>
              </a:r>
              <a:endPara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Economic evaluation: transaction costs and strategy-level metrics.</a:t>
              </a:r>
              <a:endPara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" name="Google Shape;419;p31"/>
          <p:cNvSpPr txBox="1"/>
          <p:nvPr/>
        </p:nvSpPr>
        <p:spPr>
          <a:xfrm>
            <a:off x="762000" y="4575108"/>
            <a:ext cx="5000625" cy="21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Observation</a:t>
            </a:r>
            <a:endParaRPr lang="en-US" sz="1405" b="1" i="0" u="none" strike="noStrike" cap="none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715125"/>
            <a:ext cx="1219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2"/>
          <p:cNvSpPr txBox="1"/>
          <p:nvPr/>
        </p:nvSpPr>
        <p:spPr>
          <a:xfrm>
            <a:off x="295275" y="188118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 lang="en-US" sz="4500" b="1" i="0" u="none" strike="noStrike" cap="none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571500" y="27860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Questions &amp; Discussion</a:t>
            </a:r>
            <a:endParaRPr lang="en-US" sz="1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571500" y="40243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Yanming Jing</a:t>
            </a:r>
            <a:endParaRPr lang="en-US" sz="1500" b="0" i="0" u="none" strike="noStrike" cap="non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571500" y="45005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Università Cattolica del Sacro Cuore</a:t>
            </a:r>
            <a:endParaRPr lang="en-US" sz="1500" b="0" i="0" u="none" strike="noStrike" cap="non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9*135"/>
  <p:tag name="TABLE_ENDDRAG_RECT" val="45*218*869*13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6198</Words>
  <Application>WPS 演示</Application>
  <PresentationFormat/>
  <Paragraphs>457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Arial</vt:lpstr>
      <vt:lpstr>Calibri</vt:lpstr>
      <vt:lpstr>Helvetica Neue</vt:lpstr>
      <vt:lpstr>Merriweather</vt:lpstr>
      <vt:lpstr>DM Sans</vt:lpstr>
      <vt:lpstr>微软雅黑</vt:lpstr>
      <vt:lpstr>汉仪旗黑</vt:lpstr>
      <vt:lpstr>宋体</vt:lpstr>
      <vt:lpstr>Arial Unicode MS</vt:lpstr>
      <vt:lpstr>汉仪书宋二KW</vt:lpstr>
      <vt:lpstr>Calibri</vt:lpstr>
      <vt:lpstr>Calibri</vt:lpstr>
      <vt:lpstr>Calibri</vt:lpstr>
      <vt:lpstr>DM Sans</vt:lpstr>
      <vt:lpstr>Merriweather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绿海子</cp:lastModifiedBy>
  <cp:revision>13</cp:revision>
  <dcterms:created xsi:type="dcterms:W3CDTF">2026-02-17T13:20:07Z</dcterms:created>
  <dcterms:modified xsi:type="dcterms:W3CDTF">2026-02-17T13:20:07Z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AACD9EE4D0CB9B9FDDBA91696DA79379_43</vt:lpwstr>
  </property>
</Properties>
</file>